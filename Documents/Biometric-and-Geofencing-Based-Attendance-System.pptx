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35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Felix Titling" panose="04060505060202020A04" pitchFamily="82" charset="0"/>
      <p:regular r:id="rId13"/>
    </p:embeddedFont>
    <p:embeddedFont>
      <p:font typeface="Goudy Old Style" panose="02020502050305020303" pitchFamily="18" charset="0"/>
      <p:regular r:id="rId14"/>
      <p:bold r:id="rId15"/>
      <p:italic r:id="rId16"/>
    </p:embeddedFont>
    <p:embeddedFont>
      <p:font typeface="Raleway" pitchFamily="2" charset="0"/>
      <p:regular r:id="rId17"/>
    </p:embeddedFont>
    <p:embeddedFont>
      <p:font typeface="Roboto" panose="02000000000000000000" pitchFamily="2" charset="0"/>
      <p:regular r:id="rId18"/>
    </p:embeddedFont>
    <p:embeddedFont>
      <p:font typeface="Roboto Bold" panose="02000000000000000000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A56576-6CB1-44EE-A23C-452B53D11B00}" v="7" dt="2026-09-06T19:43:01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Jagtap" userId="51f83c6fc99c6a08" providerId="LiveId" clId="{06FB3C5D-FB56-431D-AE3D-12317AD06AAD}"/>
    <pc:docChg chg="modMainMaster">
      <pc:chgData name="aditya Jagtap" userId="51f83c6fc99c6a08" providerId="LiveId" clId="{06FB3C5D-FB56-431D-AE3D-12317AD06AAD}" dt="2026-09-06T19:42:50.430" v="0"/>
      <pc:docMkLst>
        <pc:docMk/>
      </pc:docMkLst>
      <pc:sldMasterChg chg="modSldLayout">
        <pc:chgData name="aditya Jagtap" userId="51f83c6fc99c6a08" providerId="LiveId" clId="{06FB3C5D-FB56-431D-AE3D-12317AD06AAD}" dt="2026-09-06T19:42:50.430" v="0"/>
        <pc:sldMasterMkLst>
          <pc:docMk/>
          <pc:sldMasterMk cId="1227011660" sldId="2147483651"/>
        </pc:sldMasterMkLst>
        <pc:sldLayoutChg chg="delSp">
          <pc:chgData name="aditya Jagtap" userId="51f83c6fc99c6a08" providerId="LiveId" clId="{06FB3C5D-FB56-431D-AE3D-12317AD06AAD}" dt="2026-09-06T19:42:50.430" v="0"/>
          <pc:sldLayoutMkLst>
            <pc:docMk/>
            <pc:sldMasterMk cId="1227011660" sldId="2147483651"/>
            <pc:sldLayoutMk cId="2285770258" sldId="2147483663"/>
          </pc:sldLayoutMkLst>
          <pc:spChg chg="del">
            <ac:chgData name="aditya Jagtap" userId="51f83c6fc99c6a08" providerId="LiveId" clId="{06FB3C5D-FB56-431D-AE3D-12317AD06AAD}" dt="2026-09-06T19:42:50.430" v="0"/>
            <ac:spMkLst>
              <pc:docMk/>
              <pc:sldMasterMk cId="1227011660" sldId="2147483651"/>
              <pc:sldLayoutMk cId="2285770258" sldId="2147483663"/>
              <ac:spMk id="2" creationId="{00000000-0000-0000-0000-000000000000}"/>
            </ac:spMkLst>
          </pc:spChg>
          <pc:spChg chg="del">
            <ac:chgData name="aditya Jagtap" userId="51f83c6fc99c6a08" providerId="LiveId" clId="{06FB3C5D-FB56-431D-AE3D-12317AD06AAD}" dt="2026-09-06T19:42:50.430" v="0"/>
            <ac:spMkLst>
              <pc:docMk/>
              <pc:sldMasterMk cId="1227011660" sldId="2147483651"/>
              <pc:sldLayoutMk cId="2285770258" sldId="2147483663"/>
              <ac:spMk id="3" creationId="{00000000-0000-0000-0000-000000000000}"/>
            </ac:spMkLst>
          </pc:spChg>
          <pc:picChg chg="del">
            <ac:chgData name="aditya Jagtap" userId="51f83c6fc99c6a08" providerId="LiveId" clId="{06FB3C5D-FB56-431D-AE3D-12317AD06AAD}" dt="2026-09-06T19:42:50.430" v="0"/>
            <ac:picMkLst>
              <pc:docMk/>
              <pc:sldMasterMk cId="1227011660" sldId="2147483651"/>
              <pc:sldLayoutMk cId="2285770258" sldId="2147483663"/>
              <ac:picMk id="4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461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74993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37208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59689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33177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23393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41701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96762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03185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09535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6544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07382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47525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98560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71194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20531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80350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27384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686094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67060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213601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36562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930720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054951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208047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842549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995015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71275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412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847D8564-7E1E-4BE8-9D9F-ECB98DD0E6BC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6AD039A7-8EE1-4F6F-AAB3-17138B1C3D1C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150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  <p:sldLayoutId id="2147483754" r:id="rId19"/>
    <p:sldLayoutId id="2147483755" r:id="rId20"/>
    <p:sldLayoutId id="2147483756" r:id="rId21"/>
    <p:sldLayoutId id="2147483757" r:id="rId22"/>
    <p:sldLayoutId id="2147483758" r:id="rId23"/>
    <p:sldLayoutId id="2147483759" r:id="rId24"/>
    <p:sldLayoutId id="2147483760" r:id="rId25"/>
    <p:sldLayoutId id="2147483761" r:id="rId26"/>
    <p:sldLayoutId id="2147483762" r:id="rId27"/>
    <p:sldLayoutId id="2147483763" r:id="rId2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050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Biometric and Geofencing Based Attendance System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169815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Smart College Attendance System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Team Members: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33360" y="3199904"/>
            <a:ext cx="6296860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Sanket Biradar (CO4009) 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Sujay Bonde (CO4011) 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Dnyaneshwar Danene (CO4013) 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Aditya Jagtap (CO4027)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233360" y="4820444"/>
            <a:ext cx="6296860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Guide: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Dr. D.M Yadav, Principal  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Institution: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PK Technical Campus, Chakan — SPPU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Academic Year: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2026–27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0654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 &amp; Problem Statement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75222"/>
            <a:ext cx="3496877" cy="2040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198963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Attendance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398316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Time-consuming process that burdens faculty every session.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1775222"/>
            <a:ext cx="3496877" cy="20400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198963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Proxy Attendance Risk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2398316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Roll calls and signatures can be forged; ID and RFID cards can be shared between students.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1775222"/>
            <a:ext cx="3496877" cy="204003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1989634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Online Attendance Limitation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693591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Cannot verify actual physical presence in the classroom — students may mark from anywhere.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004270"/>
            <a:ext cx="3496877" cy="20471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7479" y="421868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Face-Only Vulnerability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7479" y="4627364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Face recognition alone is susceptible to photo and video spoofing attacks without liveness detection.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4004270"/>
            <a:ext cx="3496877" cy="20471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63363" y="421868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Need for Solution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663363" y="4627364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secure, automated, and reliable system combining multiple verification layers is required.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716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Objectives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24856"/>
            <a:ext cx="3541822" cy="354191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13060" y="1573609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675071" y="160461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5129779" y="1630462"/>
            <a:ext cx="640669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Secure Automated Attendance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129779" y="2033588"/>
            <a:ext cx="6406692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Eliminate manual effort and proxy attendance through multi-layer biometric verification.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13060" y="2571055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75071" y="260206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5129779" y="2627908"/>
            <a:ext cx="640669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GPS Geofencing + Face Recognition + Liveness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129779" y="3031034"/>
            <a:ext cx="6406692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 physical presence, student identity, and confirm the person is live — not a photo or video.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13060" y="3816548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75071" y="384755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5129779" y="3873401"/>
            <a:ext cx="640669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Multi-Role Dashboards &amp; Reports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129779" y="4276527"/>
            <a:ext cx="6406692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Separate interfaces for students, teachers, and administrators with real-time updates and CSV/Excel report generation.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13060" y="5062041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75071" y="509304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5129779" y="5118894"/>
            <a:ext cx="640669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Dual Mode Support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29779" y="5522020"/>
            <a:ext cx="6406692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both classroom and online attendance modes while preventing duplicate records.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943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Literature Survey: Existing Approaches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473994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Limitations of Current Methods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926828"/>
          <a:ext cx="5221852" cy="4209647"/>
        </p:xfrm>
        <a:graphic>
          <a:graphicData uri="http://schemas.openxmlformats.org/drawingml/2006/table">
            <a:tbl>
              <a:tblPr/>
              <a:tblGrid>
                <a:gridCol w="2610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0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3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Method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Key Limitation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006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2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Manual / Roll Call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Time-consuming, error-prone, easily forged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2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RFID / Barcode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Verifies card only, not the actual person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72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Fingerprint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Better identity check but requires dedicated hardware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72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Face Recognition Alone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Cannot verify physical presence or detect liveness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41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Geofencing Alone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Verifies location but does not verify identity</a:t>
                      </a:r>
                      <a:endParaRPr lang="en-US" sz="13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6314719" y="1473994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Proposed Approach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314719" y="1906786"/>
            <a:ext cx="522185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multi-layered verification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strategy that addresses all individual weaknesses: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314719" y="2623046"/>
            <a:ext cx="2530610" cy="1061740"/>
          </a:xfrm>
          <a:prstGeom prst="roundRect">
            <a:avLst>
              <a:gd name="adj" fmla="val 689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5292" y="2803624"/>
            <a:ext cx="216946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Face Verification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95292" y="3236416"/>
            <a:ext cx="2169463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Confirms student identity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005960" y="2623046"/>
            <a:ext cx="2530610" cy="1061740"/>
          </a:xfrm>
          <a:prstGeom prst="roundRect">
            <a:avLst>
              <a:gd name="adj" fmla="val 689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86533" y="2803624"/>
            <a:ext cx="216946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Liveness Detection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186533" y="3236416"/>
            <a:ext cx="2169463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Prevents spoofing attacks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314719" y="3845421"/>
            <a:ext cx="5221851" cy="1061740"/>
          </a:xfrm>
          <a:prstGeom prst="roundRect">
            <a:avLst>
              <a:gd name="adj" fmla="val 689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5292" y="4025999"/>
            <a:ext cx="486070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Geofencing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495292" y="4458791"/>
            <a:ext cx="4860704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Confirms physical presence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314719" y="5087838"/>
            <a:ext cx="5221851" cy="911820"/>
          </a:xfrm>
          <a:prstGeom prst="roundRect">
            <a:avLst>
              <a:gd name="adj" fmla="val 8026"/>
            </a:avLst>
          </a:prstGeom>
          <a:solidFill>
            <a:srgbClr val="E1E1EA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942" y="5330031"/>
            <a:ext cx="217780" cy="1742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80946" y="5275957"/>
            <a:ext cx="4481400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Attendance is recorded </a:t>
            </a:r>
            <a:r>
              <a:rPr lang="en-US" sz="13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only</a:t>
            </a: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when all three checks pass simultaneously.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678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Proposed System: Three-Layer Verification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65462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97418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Layer 1 — GPS Geofencing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382863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Confirms the student is physically within the classroom-defined radius using browser geolocation and the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Haversine distance formula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265462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297418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Layer 2 — Face Verification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382863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Confirms student identity by comparing the captured face against the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enrolled face embedding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stored in the database.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265462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297418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Layer 3 — Liveness Detection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382863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Confirms the person is live — not a photograph or replayed video — through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blink detection and head movement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challenges.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61475" y="4805164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B6FCB8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482" y="5072856"/>
            <a:ext cx="236234" cy="1890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75723" y="5041404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Attendance is recorded </a:t>
            </a: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ONLY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when all three verification checks pass successfully.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8598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60104"/>
            <a:ext cx="2575357" cy="3211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07423" y="238859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75881" y="3041551"/>
            <a:ext cx="21465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Frontend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3450233"/>
            <a:ext cx="214654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+ TypeScript + Tailwind CSS — Student Dashboard, Teacher Dashboard, Camera &amp; Geolocation Capture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839" y="2260104"/>
            <a:ext cx="2575456" cy="32119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1786" y="238859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3640245" y="3041551"/>
            <a:ext cx="214664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 (Spring Boot)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3640245" y="3745508"/>
            <a:ext cx="214664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Authentication, User &amp; Course Management, Geofence Validation, WebSocket Communication, Reports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2260104"/>
            <a:ext cx="2575456" cy="321190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36249" y="238859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6404708" y="3041551"/>
            <a:ext cx="214664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CV Service (FastAPI)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6404708" y="3745508"/>
            <a:ext cx="214664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Face Detection, Embedding, Matching &amp; Liveness Detection — internal service via Spring Boot only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54764" y="2260104"/>
            <a:ext cx="2575456" cy="321190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100712" y="238859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9169171" y="3041551"/>
            <a:ext cx="214664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Database (PostgreSQL)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9169171" y="3745508"/>
            <a:ext cx="214664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Users, Courses, Enrollments, Face Embeddings, Attendance Records, Audit Logs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684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Attendance Marking Workflow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61475" y="1308100"/>
            <a:ext cx="3515828" cy="522684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8721" y="1406029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835699" y="1991420"/>
            <a:ext cx="316738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Session Setup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35699" y="2359918"/>
            <a:ext cx="3167380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Teacher creates course, enrolls students, and opens an attendance session with classroom location, radius, and time window.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37934" y="1308100"/>
            <a:ext cx="3515828" cy="522684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65180" y="1406029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4512157" y="1991420"/>
            <a:ext cx="3167380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GPS Capture &amp; Geofence Check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12157" y="2632075"/>
            <a:ext cx="3167380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logs in and selects "Mark Attendance." Browser captures GPS location; Spring Boot validates using Haversine formula.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14392" y="1308100"/>
            <a:ext cx="3515828" cy="522684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41638" y="1406029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8188616" y="1991420"/>
            <a:ext cx="316738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Liveness Challenge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88616" y="2359918"/>
            <a:ext cx="3167380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FastAPI issues a liveness challenge (blink / head turn). Student performs the challenge on camera.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61475" y="4038104"/>
            <a:ext cx="3515828" cy="522684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8721" y="4136033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835699" y="4721423"/>
            <a:ext cx="316738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Face Matching &amp; Record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5699" y="5089922"/>
            <a:ext cx="3167380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Face is detected and compared with enrolled embedding. If all checks pass → Attendance stored. ✗ Any failure → Rejected.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337934" y="4038104"/>
            <a:ext cx="3515828" cy="522684"/>
          </a:xfrm>
          <a:prstGeom prst="roundRect">
            <a:avLst>
              <a:gd name="adj" fmla="val 4999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65180" y="4136033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4512157" y="4721423"/>
            <a:ext cx="316738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Dashboard Update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12157" y="5089922"/>
            <a:ext cx="3167380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WebSocket immediately updates the teacher dashboard with the student's live attendance status.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3422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Technology Stack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02892"/>
            <a:ext cx="558786" cy="55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6495" y="2502892"/>
            <a:ext cx="174491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Frontend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456495" y="2911574"/>
            <a:ext cx="174491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| TypeScript | Tailwind CSS | Recharts / Chart.js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502892"/>
            <a:ext cx="558786" cy="55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32665" y="2502892"/>
            <a:ext cx="17450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232665" y="2911574"/>
            <a:ext cx="174501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 Spring Boot | Spring Security | JWT | WebSocket / STOMP over SockJS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502892"/>
            <a:ext cx="558786" cy="558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08935" y="2502892"/>
            <a:ext cx="174501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Computer Vision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008935" y="3206849"/>
            <a:ext cx="174501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FastAPI | OpenCV | MediaPipe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502892"/>
            <a:ext cx="558786" cy="558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85204" y="2502892"/>
            <a:ext cx="174501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Database &amp; Deployment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85204" y="3206849"/>
            <a:ext cx="1745016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 | Docker | Docker Compose | Apache POI | CSV Export | Matplotlib | Browser Geolocation API | Haversine Formula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Advantages, Applications &amp; Future Scope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332905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61475" y="1629271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Applications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1475" y="2003425"/>
            <a:ext cx="5243481" cy="777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College lectures, laboratory sessions, seminars, and workshops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Examination hall identity verification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Restricted labs and access-controlled spaces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93089" y="1332905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93089" y="1723231"/>
            <a:ext cx="2556902" cy="1386483"/>
          </a:xfrm>
          <a:prstGeom prst="roundRect">
            <a:avLst>
              <a:gd name="adj" fmla="val 47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5903" y="1886049"/>
            <a:ext cx="223127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Mobile App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55903" y="2260203"/>
            <a:ext cx="2231275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 mobile application with push notifications for attendance alerts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979568" y="1723231"/>
            <a:ext cx="2557002" cy="1386483"/>
          </a:xfrm>
          <a:prstGeom prst="roundRect">
            <a:avLst>
              <a:gd name="adj" fmla="val 47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2382" y="1886049"/>
            <a:ext cx="223137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Reports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2382" y="2260203"/>
            <a:ext cx="22313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weekly and monthly report generation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3089" y="3239294"/>
            <a:ext cx="2556902" cy="1386483"/>
          </a:xfrm>
          <a:prstGeom prst="roundRect">
            <a:avLst>
              <a:gd name="adj" fmla="val 47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903" y="3402112"/>
            <a:ext cx="223127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Anti-Spoofing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55903" y="3776266"/>
            <a:ext cx="2231275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Stronger depth-based or challenge-response anti-spoofing mechanisms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79568" y="3239294"/>
            <a:ext cx="2557002" cy="1386483"/>
          </a:xfrm>
          <a:prstGeom prst="roundRect">
            <a:avLst>
              <a:gd name="adj" fmla="val 47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2382" y="3402112"/>
            <a:ext cx="223137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ERP Integration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2382" y="3776266"/>
            <a:ext cx="2231374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College ERP integration via REST APIs and enhanced biometric encryption</a:t>
            </a:r>
            <a:endParaRPr lang="en-US" sz="12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112" y="4925070"/>
            <a:ext cx="234746" cy="23475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70057" y="4917281"/>
            <a:ext cx="2087014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proxy attendance — verifies identity, liveness, and location together</a:t>
            </a:r>
            <a:endParaRPr lang="en-US" sz="12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7729" y="4925070"/>
            <a:ext cx="234746" cy="23475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927674" y="4917281"/>
            <a:ext cx="2087113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Prevents photo and video spoofing attacks</a:t>
            </a:r>
            <a:endParaRPr lang="en-US" sz="1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5445" y="4925070"/>
            <a:ext cx="234746" cy="23475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85391" y="4917281"/>
            <a:ext cx="2087113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teacher dashboard updates via WebSocket</a:t>
            </a:r>
            <a:endParaRPr lang="en-US" sz="12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3161" y="4925070"/>
            <a:ext cx="234746" cy="2347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443107" y="4917281"/>
            <a:ext cx="2087113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dedicated fingerprint or RFID hardware required</a:t>
            </a:r>
            <a:endParaRPr lang="en-US" sz="12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112" y="5871021"/>
            <a:ext cx="234746" cy="2347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70057" y="5863233"/>
            <a:ext cx="1036016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CSV/Excel reports and analytics generation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9" y="121741"/>
            <a:ext cx="4409568" cy="66145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73683"/>
            <a:ext cx="6296860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3150" dirty="0"/>
          </a:p>
        </p:txBody>
      </p:sp>
      <p:sp>
        <p:nvSpPr>
          <p:cNvPr id="5" name="Shape 2"/>
          <p:cNvSpPr/>
          <p:nvPr/>
        </p:nvSpPr>
        <p:spPr>
          <a:xfrm>
            <a:off x="5233360" y="1290638"/>
            <a:ext cx="6296860" cy="4595019"/>
          </a:xfrm>
          <a:prstGeom prst="roundRect">
            <a:avLst>
              <a:gd name="adj" fmla="val 148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39710" y="1296988"/>
            <a:ext cx="6284160" cy="1145580"/>
          </a:xfrm>
          <a:custGeom>
            <a:avLst/>
            <a:gdLst/>
            <a:ahLst/>
            <a:cxnLst/>
            <a:rect l="l" t="t" r="r" b="b"/>
            <a:pathLst>
              <a:path w="6284160" h="1145580">
                <a:moveTo>
                  <a:pt x="56853" y="0"/>
                </a:moveTo>
                <a:lnTo>
                  <a:pt x="6227307" y="0"/>
                </a:lnTo>
                <a:arcTo wR="56853" hR="56855" stAng="16200000" swAng="5400000"/>
                <a:lnTo>
                  <a:pt x="6284160" y="1145580"/>
                </a:lnTo>
                <a:lnTo>
                  <a:pt x="0" y="1145580"/>
                </a:lnTo>
                <a:lnTo>
                  <a:pt x="0" y="56855"/>
                </a:lnTo>
                <a:arcTo wR="56853" hR="56855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7" name="Text 4"/>
          <p:cNvSpPr/>
          <p:nvPr/>
        </p:nvSpPr>
        <p:spPr>
          <a:xfrm>
            <a:off x="5402127" y="1459409"/>
            <a:ext cx="59593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Three-Layer Verification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402127" y="1796951"/>
            <a:ext cx="595932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Combines geofencing, face recognition, and liveness detection for comprehensive, tamper-resistant attendance verification.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239710" y="2442567"/>
            <a:ext cx="6284160" cy="1145580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0" name="Shape 7"/>
          <p:cNvSpPr/>
          <p:nvPr/>
        </p:nvSpPr>
        <p:spPr>
          <a:xfrm>
            <a:off x="5239710" y="2442567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1" name="Text 8"/>
          <p:cNvSpPr/>
          <p:nvPr/>
        </p:nvSpPr>
        <p:spPr>
          <a:xfrm>
            <a:off x="5402127" y="2604988"/>
            <a:ext cx="59593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Modular Architecture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402127" y="2942530"/>
            <a:ext cx="595932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+ Spring Boot + FastAPI design ensures separation of concerns; internal isolation of the CV service enhances security.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239710" y="3588147"/>
            <a:ext cx="6284160" cy="1145580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4" name="Shape 11"/>
          <p:cNvSpPr/>
          <p:nvPr/>
        </p:nvSpPr>
        <p:spPr>
          <a:xfrm>
            <a:off x="5239710" y="3588147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5" name="Text 12"/>
          <p:cNvSpPr/>
          <p:nvPr/>
        </p:nvSpPr>
        <p:spPr>
          <a:xfrm>
            <a:off x="5402127" y="3750568"/>
            <a:ext cx="59593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Reliable Records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402127" y="4088110"/>
            <a:ext cx="595932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 with database-level duplicate prevention ensures organized, consistent, and trustworthy attendance data.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239710" y="4733727"/>
            <a:ext cx="6284160" cy="1145580"/>
          </a:xfrm>
          <a:custGeom>
            <a:avLst/>
            <a:gdLst/>
            <a:ahLst/>
            <a:cxnLst/>
            <a:rect l="l" t="t" r="r" b="b"/>
            <a:pathLst>
              <a:path w="6284160" h="1145580">
                <a:moveTo>
                  <a:pt x="0" y="0"/>
                </a:moveTo>
                <a:lnTo>
                  <a:pt x="6284160" y="0"/>
                </a:lnTo>
                <a:lnTo>
                  <a:pt x="6284160" y="1088725"/>
                </a:lnTo>
                <a:arcTo wR="56853" hR="56855" stAng="0" swAng="5400000"/>
                <a:lnTo>
                  <a:pt x="56853" y="1145580"/>
                </a:lnTo>
                <a:arcTo wR="56853" hR="56855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8" name="Shape 15"/>
          <p:cNvSpPr/>
          <p:nvPr/>
        </p:nvSpPr>
        <p:spPr>
          <a:xfrm>
            <a:off x="5239710" y="4733727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9" name="Text 16"/>
          <p:cNvSpPr/>
          <p:nvPr/>
        </p:nvSpPr>
        <p:spPr>
          <a:xfrm>
            <a:off x="5402127" y="4896148"/>
            <a:ext cx="59593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Visibility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5402127" y="5233690"/>
            <a:ext cx="595932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WebSocket-driven live dashboard helps teachers monitor student attendance efficiently without manual intervention.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928568" y="6042620"/>
            <a:ext cx="6906444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Thank You</a:t>
            </a: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Questions?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</TotalTime>
  <Words>878</Words>
  <Application>Microsoft Office PowerPoint</Application>
  <PresentationFormat>Widescreen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Roboto Bold</vt:lpstr>
      <vt:lpstr>Arial</vt:lpstr>
      <vt:lpstr>Goudy Old Style</vt:lpstr>
      <vt:lpstr>Roboto</vt:lpstr>
      <vt:lpstr>Raleway</vt:lpstr>
      <vt:lpstr>Felix Titling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aditya Jagtap</cp:lastModifiedBy>
  <cp:revision>1</cp:revision>
  <dcterms:created xsi:type="dcterms:W3CDTF">2026-09-06T19:40:32Z</dcterms:created>
  <dcterms:modified xsi:type="dcterms:W3CDTF">2026-09-06T19:43:04Z</dcterms:modified>
</cp:coreProperties>
</file>